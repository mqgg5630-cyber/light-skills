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5240000" cy="85725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pt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pt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cover"/>
          <p:cNvGrpSpPr/>
          <p:nvPr/>
        </p:nvGrpSpPr>
        <p:grpSpPr>
          <a:xfrm>
            <a:off x="0" y="0"/>
            <a:ext cx="8414652" cy="8572500"/>
            <a:chOff x="0" y="0"/>
            <a:chExt cx="8414652" cy="85725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33350" cy="8572500"/>
            </a:xfrm>
            <a:prstGeom prst="rect">
              <a:avLst/>
            </a:prstGeom>
            <a:solidFill>
              <a:srgbClr val="E0A45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226820" y="2863850"/>
              <a:ext cx="309724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9FB3CF"/>
                  </a:solidFill>
                  <a:latin typeface="+mn-lt"/>
                  <a:ea typeface="+mn-ea"/>
                  <a:cs typeface="+mn-cs"/>
                </a:rPr>
                <a:t>抗菌肽 × 阿尔茨海默病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219200" y="3524250"/>
              <a:ext cx="6923913" cy="9048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650" b="1" dirty="0">
                  <a:solidFill>
                    <a:srgbClr val="F2F6FA"/>
                  </a:solidFill>
                  <a:latin typeface="+mn-lt"/>
                  <a:ea typeface="+mn-ea"/>
                  <a:cs typeface="+mn-cs"/>
                </a:rPr>
                <a:t>八个机制落点与计算方案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1238250" y="4552950"/>
              <a:ext cx="1714500" cy="57150"/>
            </a:xfrm>
            <a:prstGeom prst="rect">
              <a:avLst/>
            </a:prstGeom>
            <a:solidFill>
              <a:srgbClr val="E0A458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228344" y="5092700"/>
              <a:ext cx="718630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9FB3CF"/>
                  </a:solidFill>
                  <a:latin typeface="+mn-lt"/>
                  <a:ea typeface="+mn-ea"/>
                  <a:cs typeface="+mn-cs"/>
                </a:rPr>
                <a:t>肠道宏基因组来源抗菌肽 · 对接与分子动力学 · 暴露路径判别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229868" y="7131050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9FB3CF"/>
                  </a:solidFill>
                  <a:latin typeface="+mn-lt"/>
                  <a:ea typeface="+mn-ea"/>
                  <a:cs typeface="+mn-cs"/>
                </a:rPr>
                <a:t>姓名：　　　　　　指导教师：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overview"/>
          <p:cNvGrpSpPr/>
          <p:nvPr/>
        </p:nvGrpSpPr>
        <p:grpSpPr>
          <a:xfrm>
            <a:off x="1030986" y="812800"/>
            <a:ext cx="13161264" cy="7284720"/>
            <a:chOff x="1030986" y="812800"/>
            <a:chExt cx="13161264" cy="7284720"/>
          </a:xfrm>
        </p:grpSpPr>
        <p:sp>
          <p:nvSpPr>
            <p:cNvPr id="2" name="TextBox 2"/>
            <p:cNvSpPr txBox="1"/>
            <p:nvPr/>
          </p:nvSpPr>
          <p:spPr>
            <a:xfrm>
              <a:off x="1030986" y="812800"/>
              <a:ext cx="492023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2F6FA"/>
                  </a:solidFill>
                  <a:latin typeface="+mn-lt"/>
                  <a:ea typeface="+mn-ea"/>
                  <a:cs typeface="+mn-cs"/>
                </a:rPr>
                <a:t>八个落点分布在三个隔室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1047750" y="1485900"/>
              <a:ext cx="1143000" cy="47625"/>
            </a:xfrm>
            <a:prstGeom prst="rect">
              <a:avLst/>
            </a:prstGeom>
            <a:solidFill>
              <a:srgbClr val="E0A458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1047750" y="2095500"/>
              <a:ext cx="4191000" cy="5334000"/>
            </a:xfrm>
            <a:prstGeom prst="rect">
              <a:avLst/>
            </a:prstGeom>
            <a:solidFill>
              <a:srgbClr val="15283F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1047750" y="2095500"/>
              <a:ext cx="4191000" cy="76200"/>
            </a:xfrm>
            <a:prstGeom prst="rect">
              <a:avLst/>
            </a:prstGeom>
            <a:solidFill>
              <a:srgbClr val="5BA6A8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379220" y="2578100"/>
              <a:ext cx="184023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A6A8"/>
                  </a:solidFill>
                  <a:latin typeface="+mn-lt"/>
                  <a:ea typeface="+mn-ea"/>
                  <a:cs typeface="+mn-cs"/>
                </a:rPr>
                <a:t>肠腔与肠上皮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382649" y="3248025"/>
              <a:ext cx="3607816" cy="6137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80" dirty="0">
                  <a:solidFill>
                    <a:srgbClr val="F2F6FA"/>
                  </a:solidFill>
                  <a:latin typeface="+mn-lt"/>
                  <a:ea typeface="+mn-ea"/>
                  <a:cs typeface="+mn-cs"/>
                </a:rPr>
                <a:t>M8a　与细菌功能性淀粉样蛋白 CsgA、F</a:t>
              </a:r>
              <a:br>
                <a:rPr lang="zh-CN" sz="1580" dirty="0">
                  <a:solidFill>
                    <a:srgbClr val="F2F6FA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80" dirty="0">
                  <a:solidFill>
                    <a:srgbClr val="F2F6FA"/>
                  </a:solidFill>
                  <a:latin typeface="+mn-lt"/>
                  <a:ea typeface="+mn-ea"/>
                  <a:cs typeface="+mn-cs"/>
                </a:rPr>
                <a:t>apC 的组装界面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382649" y="4086225"/>
              <a:ext cx="3587750" cy="6137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80" dirty="0">
                  <a:solidFill>
                    <a:srgbClr val="F2F6FA"/>
                  </a:solidFill>
                  <a:latin typeface="+mn-lt"/>
                  <a:ea typeface="+mn-ea"/>
                  <a:cs typeface="+mn-cs"/>
                </a:rPr>
                <a:t>M8b　菌群重塑与 LPS、短链脂肪酸的变</a:t>
              </a:r>
              <a:br>
                <a:rPr lang="zh-CN" sz="1580" dirty="0">
                  <a:solidFill>
                    <a:srgbClr val="F2F6FA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80" dirty="0">
                  <a:solidFill>
                    <a:srgbClr val="F2F6FA"/>
                  </a:solidFill>
                  <a:latin typeface="+mn-lt"/>
                  <a:ea typeface="+mn-ea"/>
                  <a:cs typeface="+mn-cs"/>
                </a:rPr>
                <a:t>化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82649" y="4962525"/>
              <a:ext cx="3073258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F2F6FA"/>
                  </a:solidFill>
                  <a:latin typeface="+mn-lt"/>
                  <a:ea typeface="+mn-ea"/>
                  <a:cs typeface="+mn-cs"/>
                </a:rPr>
                <a:t>M7　抗菌肽自身形成淀粉样种子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524500" y="2095500"/>
              <a:ext cx="4191000" cy="5334000"/>
            </a:xfrm>
            <a:prstGeom prst="rect">
              <a:avLst/>
            </a:prstGeom>
            <a:solidFill>
              <a:srgbClr val="15283F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5524500" y="2095500"/>
              <a:ext cx="4191000" cy="76200"/>
            </a:xfrm>
            <a:prstGeom prst="rect">
              <a:avLst/>
            </a:prstGeom>
            <a:solidFill>
              <a:srgbClr val="E0A45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855970" y="2578100"/>
              <a:ext cx="153733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E0A458"/>
                  </a:solidFill>
                  <a:latin typeface="+mn-lt"/>
                  <a:ea typeface="+mn-ea"/>
                  <a:cs typeface="+mn-cs"/>
                </a:rPr>
                <a:t>循环与屏障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859399" y="3286125"/>
              <a:ext cx="341458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F2F6FA"/>
                  </a:solidFill>
                  <a:latin typeface="+mn-lt"/>
                  <a:ea typeface="+mn-ea"/>
                  <a:cs typeface="+mn-cs"/>
                </a:rPr>
                <a:t>M6　与 Aβ 争夺 IDE、NEP 的催化腔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859399" y="3819525"/>
              <a:ext cx="3790015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F2F6FA"/>
                  </a:solidFill>
                  <a:latin typeface="+mn-lt"/>
                  <a:ea typeface="+mn-ea"/>
                  <a:cs typeface="+mn-cs"/>
                </a:rPr>
                <a:t>外周沉降槽：TTR、白蛋白的结合面重叠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859399" y="4352925"/>
              <a:ext cx="2355698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F2F6FA"/>
                  </a:solidFill>
                  <a:latin typeface="+mn-lt"/>
                  <a:ea typeface="+mn-ea"/>
                  <a:cs typeface="+mn-cs"/>
                </a:rPr>
                <a:t>跨屏障入脑作为条件分支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0001250" y="2095500"/>
              <a:ext cx="4191000" cy="5334000"/>
            </a:xfrm>
            <a:prstGeom prst="rect">
              <a:avLst/>
            </a:prstGeom>
            <a:solidFill>
              <a:srgbClr val="15283F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10001250" y="2095500"/>
              <a:ext cx="4191000" cy="76200"/>
            </a:xfrm>
            <a:prstGeom prst="rect">
              <a:avLst/>
            </a:prstGeom>
            <a:solidFill>
              <a:srgbClr val="C9705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332720" y="2578100"/>
              <a:ext cx="93154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C9705B"/>
                  </a:solidFill>
                  <a:latin typeface="+mn-lt"/>
                  <a:ea typeface="+mn-ea"/>
                  <a:cs typeface="+mn-cs"/>
                </a:rPr>
                <a:t>脑实质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336149" y="3286125"/>
              <a:ext cx="3282446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F2F6FA"/>
                  </a:solidFill>
                  <a:latin typeface="+mn-lt"/>
                  <a:ea typeface="+mn-ea"/>
                  <a:cs typeface="+mn-cs"/>
                </a:rPr>
                <a:t>M1　AChE 的 PAS 上的三元复合物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336149" y="3819525"/>
              <a:ext cx="3019682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F2F6FA"/>
                  </a:solidFill>
                  <a:latin typeface="+mn-lt"/>
                  <a:ea typeface="+mn-ea"/>
                  <a:cs typeface="+mn-cs"/>
                </a:rPr>
                <a:t>M2　与 Aβ 的交叉成核及其方向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336149" y="4352925"/>
              <a:ext cx="3204088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F2F6FA"/>
                  </a:solidFill>
                  <a:latin typeface="+mn-lt"/>
                  <a:ea typeface="+mn-ea"/>
                  <a:cs typeface="+mn-cs"/>
                </a:rPr>
                <a:t>M4　FPR2、CLIC1、TLR4、RAGE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336149" y="4886325"/>
              <a:ext cx="277307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F2F6FA"/>
                  </a:solidFill>
                  <a:latin typeface="+mn-lt"/>
                  <a:ea typeface="+mn-ea"/>
                  <a:cs typeface="+mn-cs"/>
                </a:rPr>
                <a:t>M5　含 GM1 的神经元膜界面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336149" y="5419725"/>
              <a:ext cx="2560973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F2F6FA"/>
                  </a:solidFill>
                  <a:latin typeface="+mn-lt"/>
                  <a:ea typeface="+mn-ea"/>
                  <a:cs typeface="+mn-cs"/>
                </a:rPr>
                <a:t>M3　tau 的 PHF6（可选）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40130" y="7804150"/>
              <a:ext cx="62750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FB3CF"/>
                  </a:solidFill>
                  <a:latin typeface="+mn-lt"/>
                  <a:ea typeface="+mn-ea"/>
                  <a:cs typeface="+mn-cs"/>
                </a:rPr>
                <a:t>肠道端与外周端不依赖跨血脑屏障的假设，脑实质一侧按条件分支处理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mechanism"/>
          <p:cNvGrpSpPr/>
          <p:nvPr/>
        </p:nvGrpSpPr>
        <p:grpSpPr>
          <a:xfrm>
            <a:off x="0" y="0"/>
            <a:ext cx="15240000" cy="7964170"/>
            <a:chOff x="0" y="0"/>
            <a:chExt cx="15240000" cy="796417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5240000" cy="1619250"/>
            </a:xfrm>
            <a:prstGeom prst="rect">
              <a:avLst/>
            </a:prstGeom>
            <a:solidFill>
              <a:srgbClr val="15283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1543050"/>
              <a:ext cx="15240000" cy="76200"/>
            </a:xfrm>
            <a:prstGeom prst="rect">
              <a:avLst/>
            </a:prstGeom>
            <a:solidFill>
              <a:srgbClr val="E0A458">
                <a:alpha val="50000"/>
              </a:srgbClr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038606" y="565150"/>
              <a:ext cx="70888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0A458"/>
                  </a:solidFill>
                  <a:latin typeface="+mn-lt"/>
                  <a:ea typeface="+mn-ea"/>
                  <a:cs typeface="+mn-cs"/>
                </a:rPr>
                <a:t>机制 1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31748" y="895350"/>
              <a:ext cx="564335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2F6FA"/>
                  </a:solidFill>
                  <a:latin typeface="+mn-lt"/>
                  <a:ea typeface="+mn-ea"/>
                  <a:cs typeface="+mn-cs"/>
                </a:rPr>
                <a:t>AChE 的 PAS 上的三元复合物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1047750" y="2228850"/>
              <a:ext cx="57150" cy="457200"/>
            </a:xfrm>
            <a:prstGeom prst="rect">
              <a:avLst/>
            </a:prstGeom>
            <a:solidFill>
              <a:srgbClr val="E0A458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323213" y="2330450"/>
              <a:ext cx="564439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E0A458"/>
                  </a:solidFill>
                  <a:latin typeface="+mn-lt"/>
                  <a:ea typeface="+mn-ea"/>
                  <a:cs typeface="+mn-cs"/>
                </a:rPr>
                <a:t>假设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315337" y="2279650"/>
              <a:ext cx="9290304" cy="718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zh-CN" sz="1720" dirty="0">
                  <a:solidFill>
                    <a:srgbClr val="F2F6FA"/>
                  </a:solidFill>
                  <a:latin typeface="+mn-lt"/>
                  <a:ea typeface="+mn-ea"/>
                  <a:cs typeface="+mn-cs"/>
                </a:rPr>
                <a:t>抗菌肽在 344—361 疏水区和 PAS 邻域占位，要么替掉 Aβ 减少模板表面，要么夹成 AChE–抗菌肽</a:t>
              </a:r>
              <a:br>
                <a:rPr lang="zh-CN" sz="1720" dirty="0">
                  <a:solidFill>
                    <a:srgbClr val="F2F6FA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720" dirty="0">
                  <a:solidFill>
                    <a:srgbClr val="F2F6FA"/>
                  </a:solidFill>
                  <a:latin typeface="+mn-lt"/>
                  <a:ea typeface="+mn-ea"/>
                  <a:cs typeface="+mn-cs"/>
                </a:rPr>
                <a:t>–Aβ 三层把 Aβ 拉得更近。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1047750" y="4248150"/>
              <a:ext cx="57150" cy="457200"/>
            </a:xfrm>
            <a:prstGeom prst="rect">
              <a:avLst/>
            </a:prstGeom>
            <a:solidFill>
              <a:srgbClr val="5BA6A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323213" y="4349750"/>
              <a:ext cx="564439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5BA6A8"/>
                  </a:solidFill>
                  <a:latin typeface="+mn-lt"/>
                  <a:ea typeface="+mn-ea"/>
                  <a:cs typeface="+mn-cs"/>
                </a:rPr>
                <a:t>做法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315337" y="4298950"/>
              <a:ext cx="9727184" cy="718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zh-CN" sz="1720" dirty="0">
                  <a:solidFill>
                    <a:srgbClr val="F2F6FA"/>
                  </a:solidFill>
                  <a:latin typeface="+mn-lt"/>
                  <a:ea typeface="+mn-ea"/>
                  <a:cs typeface="+mn-cs"/>
                </a:rPr>
                <a:t>以 Tyr72、Asp74、Tyr124、Trp286、Tyr341 和 344—361 为活性残基做数据驱动对接；二元与三元</a:t>
              </a:r>
              <a:br>
                <a:rPr lang="zh-CN" sz="1720" dirty="0">
                  <a:solidFill>
                    <a:srgbClr val="F2F6FA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720" dirty="0">
                  <a:solidFill>
                    <a:srgbClr val="F2F6FA"/>
                  </a:solidFill>
                  <a:latin typeface="+mn-lt"/>
                  <a:ea typeface="+mn-ea"/>
                  <a:cs typeface="+mn-cs"/>
                </a:rPr>
                <a:t>体系各三条 1 μs，和已有的 AChE–Aβ 体系并排当内参。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047750" y="6267450"/>
              <a:ext cx="57150" cy="457200"/>
            </a:xfrm>
            <a:prstGeom prst="rect">
              <a:avLst/>
            </a:prstGeom>
            <a:solidFill>
              <a:srgbClr val="C9705B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323213" y="6369050"/>
              <a:ext cx="564439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C9705B"/>
                  </a:solidFill>
                  <a:latin typeface="+mn-lt"/>
                  <a:ea typeface="+mn-ea"/>
                  <a:cs typeface="+mn-cs"/>
                </a:rPr>
                <a:t>判据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315337" y="6394450"/>
              <a:ext cx="818346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F2F6FA"/>
                  </a:solidFill>
                  <a:latin typeface="+mn-lt"/>
                  <a:ea typeface="+mn-ea"/>
                  <a:cs typeface="+mn-cs"/>
                </a:rPr>
                <a:t>界面接触占据率、停留区段与 344—361 的重合比例、Aβ 占据 PAS 的概率变化。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047750" y="7391400"/>
              <a:ext cx="13144500" cy="19050"/>
            </a:xfrm>
            <a:prstGeom prst="rect">
              <a:avLst/>
            </a:prstGeom>
            <a:solidFill>
              <a:srgbClr val="9FB3CF">
                <a:alpha val="50000"/>
              </a:srgbClr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40130" y="7670800"/>
              <a:ext cx="73481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FB3CF"/>
                  </a:solidFill>
                  <a:latin typeface="+mn-lt"/>
                  <a:ea typeface="+mn-ea"/>
                  <a:cs typeface="+mn-cs"/>
                </a:rPr>
                <a:t>对照：已知只结合催化位点的小分子；湿实验用 AChE 促聚集的 ThT 曲线和 SPR。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mechanism"/>
          <p:cNvGrpSpPr/>
          <p:nvPr/>
        </p:nvGrpSpPr>
        <p:grpSpPr>
          <a:xfrm>
            <a:off x="0" y="0"/>
            <a:ext cx="15240000" cy="7964170"/>
            <a:chOff x="0" y="0"/>
            <a:chExt cx="15240000" cy="796417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5240000" cy="1619250"/>
            </a:xfrm>
            <a:prstGeom prst="rect">
              <a:avLst/>
            </a:prstGeom>
            <a:solidFill>
              <a:srgbClr val="15283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1543050"/>
              <a:ext cx="15240000" cy="76200"/>
            </a:xfrm>
            <a:prstGeom prst="rect">
              <a:avLst/>
            </a:prstGeom>
            <a:solidFill>
              <a:srgbClr val="E0A458">
                <a:alpha val="50000"/>
              </a:srgbClr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038606" y="565150"/>
              <a:ext cx="70888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0A458"/>
                  </a:solidFill>
                  <a:latin typeface="+mn-lt"/>
                  <a:ea typeface="+mn-ea"/>
                  <a:cs typeface="+mn-cs"/>
                </a:rPr>
                <a:t>机制 2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31748" y="895350"/>
              <a:ext cx="632305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2F6FA"/>
                  </a:solidFill>
                  <a:latin typeface="+mn-lt"/>
                  <a:ea typeface="+mn-ea"/>
                  <a:cs typeface="+mn-cs"/>
                </a:rPr>
                <a:t>与 Aβ 的交叉成核，重点是定方向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1047750" y="2228850"/>
              <a:ext cx="57150" cy="457200"/>
            </a:xfrm>
            <a:prstGeom prst="rect">
              <a:avLst/>
            </a:prstGeom>
            <a:solidFill>
              <a:srgbClr val="E0A458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323213" y="2330450"/>
              <a:ext cx="564439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E0A458"/>
                  </a:solidFill>
                  <a:latin typeface="+mn-lt"/>
                  <a:ea typeface="+mn-ea"/>
                  <a:cs typeface="+mn-cs"/>
                </a:rPr>
                <a:t>假设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315337" y="2279650"/>
              <a:ext cx="10065766" cy="718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zh-CN" sz="1720" dirty="0">
                  <a:solidFill>
                    <a:srgbClr val="F2F6FA"/>
                  </a:solidFill>
                  <a:latin typeface="+mn-lt"/>
                  <a:ea typeface="+mn-ea"/>
                  <a:cs typeface="+mn-cs"/>
                </a:rPr>
                <a:t>交叉成核既能加速也能抑制，方向由结合位点、化学计量比和界面电荷互补性决定，不预先定判据就不可</a:t>
              </a:r>
              <a:br>
                <a:rPr lang="zh-CN" sz="1720" dirty="0">
                  <a:solidFill>
                    <a:srgbClr val="F2F6FA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720" dirty="0">
                  <a:solidFill>
                    <a:srgbClr val="F2F6FA"/>
                  </a:solidFill>
                  <a:latin typeface="+mn-lt"/>
                  <a:ea typeface="+mn-ea"/>
                  <a:cs typeface="+mn-cs"/>
                </a:rPr>
                <a:t>证伪。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1047750" y="4248150"/>
              <a:ext cx="57150" cy="457200"/>
            </a:xfrm>
            <a:prstGeom prst="rect">
              <a:avLst/>
            </a:prstGeom>
            <a:solidFill>
              <a:srgbClr val="5BA6A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323213" y="4349750"/>
              <a:ext cx="564439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5BA6A8"/>
                  </a:solidFill>
                  <a:latin typeface="+mn-lt"/>
                  <a:ea typeface="+mn-ea"/>
                  <a:cs typeface="+mn-cs"/>
                </a:rPr>
                <a:t>做法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315337" y="4298950"/>
              <a:ext cx="9716262" cy="718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zh-CN" sz="1720" dirty="0">
                  <a:solidFill>
                    <a:srgbClr val="F2F6FA"/>
                  </a:solidFill>
                  <a:latin typeface="+mn-lt"/>
                  <a:ea typeface="+mn-ea"/>
                  <a:cs typeface="+mn-cs"/>
                </a:rPr>
                <a:t>增强采样看异质接触比例和 β-桶中间体；把肽分别放到纤维生长端和侧表面算结合与伸长自由能；侧</a:t>
              </a:r>
              <a:br>
                <a:rPr lang="zh-CN" sz="1720" dirty="0">
                  <a:solidFill>
                    <a:srgbClr val="F2F6FA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720" dirty="0">
                  <a:solidFill>
                    <a:srgbClr val="F2F6FA"/>
                  </a:solidFill>
                  <a:latin typeface="+mn-lt"/>
                  <a:ea typeface="+mn-ea"/>
                  <a:cs typeface="+mn-cs"/>
                </a:rPr>
                <a:t>表面补伞形采样，因为二次成核发生在那里。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047750" y="6267450"/>
              <a:ext cx="57150" cy="457200"/>
            </a:xfrm>
            <a:prstGeom prst="rect">
              <a:avLst/>
            </a:prstGeom>
            <a:solidFill>
              <a:srgbClr val="C9705B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323213" y="6369050"/>
              <a:ext cx="564439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C9705B"/>
                  </a:solidFill>
                  <a:latin typeface="+mn-lt"/>
                  <a:ea typeface="+mn-ea"/>
                  <a:cs typeface="+mn-cs"/>
                </a:rPr>
                <a:t>判据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315337" y="6318250"/>
              <a:ext cx="10065766" cy="718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zh-CN" sz="1720" dirty="0">
                  <a:solidFill>
                    <a:srgbClr val="F2F6FA"/>
                  </a:solidFill>
                  <a:latin typeface="+mn-lt"/>
                  <a:ea typeface="+mn-ea"/>
                  <a:cs typeface="+mn-cs"/>
                </a:rPr>
                <a:t>生长端占优且伸长自由能更负判为加速；侧表面占优并封端判为改形、滞留寡聚体；两者都弱就是没有交</a:t>
              </a:r>
              <a:br>
                <a:rPr lang="zh-CN" sz="1720" dirty="0">
                  <a:solidFill>
                    <a:srgbClr val="F2F6FA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720" dirty="0">
                  <a:solidFill>
                    <a:srgbClr val="F2F6FA"/>
                  </a:solidFill>
                  <a:latin typeface="+mn-lt"/>
                  <a:ea typeface="+mn-ea"/>
                  <a:cs typeface="+mn-cs"/>
                </a:rPr>
                <a:t>叉成核。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047750" y="7391400"/>
              <a:ext cx="13144500" cy="19050"/>
            </a:xfrm>
            <a:prstGeom prst="rect">
              <a:avLst/>
            </a:prstGeom>
            <a:solidFill>
              <a:srgbClr val="9FB3CF">
                <a:alpha val="50000"/>
              </a:srgbClr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40130" y="7670800"/>
              <a:ext cx="87658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FB3CF"/>
                  </a:solidFill>
                  <a:latin typeface="+mn-lt"/>
                  <a:ea typeface="+mn-ea"/>
                  <a:cs typeface="+mn-cs"/>
                </a:rPr>
                <a:t>湿实验用 ThT 全局拟合把总效应拆成一次成核、二次成核和伸长三个常数，与模拟判断一一对应。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mechanism"/>
          <p:cNvGrpSpPr/>
          <p:nvPr/>
        </p:nvGrpSpPr>
        <p:grpSpPr>
          <a:xfrm>
            <a:off x="0" y="0"/>
            <a:ext cx="15240000" cy="7964170"/>
            <a:chOff x="0" y="0"/>
            <a:chExt cx="15240000" cy="796417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5240000" cy="1619250"/>
            </a:xfrm>
            <a:prstGeom prst="rect">
              <a:avLst/>
            </a:prstGeom>
            <a:solidFill>
              <a:srgbClr val="15283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1543050"/>
              <a:ext cx="15240000" cy="76200"/>
            </a:xfrm>
            <a:prstGeom prst="rect">
              <a:avLst/>
            </a:prstGeom>
            <a:solidFill>
              <a:srgbClr val="E0A458">
                <a:alpha val="50000"/>
              </a:srgbClr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038606" y="565150"/>
              <a:ext cx="70888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0A458"/>
                  </a:solidFill>
                  <a:latin typeface="+mn-lt"/>
                  <a:ea typeface="+mn-ea"/>
                  <a:cs typeface="+mn-cs"/>
                </a:rPr>
                <a:t>机制 3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31748" y="895350"/>
              <a:ext cx="386862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2F6FA"/>
                  </a:solidFill>
                  <a:latin typeface="+mn-lt"/>
                  <a:ea typeface="+mn-ea"/>
                  <a:cs typeface="+mn-cs"/>
                </a:rPr>
                <a:t>tau 这一侧（可选）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1047750" y="2228850"/>
              <a:ext cx="57150" cy="457200"/>
            </a:xfrm>
            <a:prstGeom prst="rect">
              <a:avLst/>
            </a:prstGeom>
            <a:solidFill>
              <a:srgbClr val="E0A458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323213" y="2330450"/>
              <a:ext cx="564439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E0A458"/>
                  </a:solidFill>
                  <a:latin typeface="+mn-lt"/>
                  <a:ea typeface="+mn-ea"/>
                  <a:cs typeface="+mn-cs"/>
                </a:rPr>
                <a:t>假设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315337" y="2355850"/>
              <a:ext cx="526205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F2F6FA"/>
                  </a:solidFill>
                  <a:latin typeface="+mn-lt"/>
                  <a:ea typeface="+mn-ea"/>
                  <a:cs typeface="+mn-cs"/>
                </a:rPr>
                <a:t>阳离子肽能否靠芳香堆积参与 tau 的异质 β-折叠。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1047750" y="3867150"/>
              <a:ext cx="57150" cy="457200"/>
            </a:xfrm>
            <a:prstGeom prst="rect">
              <a:avLst/>
            </a:prstGeom>
            <a:solidFill>
              <a:srgbClr val="5BA6A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323213" y="3968750"/>
              <a:ext cx="564439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5BA6A8"/>
                  </a:solidFill>
                  <a:latin typeface="+mn-lt"/>
                  <a:ea typeface="+mn-ea"/>
                  <a:cs typeface="+mn-cs"/>
                </a:rPr>
                <a:t>做法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315337" y="3994150"/>
              <a:ext cx="8686973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F2F6FA"/>
                  </a:solidFill>
                  <a:latin typeface="+mn-lt"/>
                  <a:ea typeface="+mn-ea"/>
                  <a:cs typeface="+mn-cs"/>
                </a:rPr>
                <a:t>以 PHF6（306VQIVYK311）和 PHF6*（275VQIINK280）为界面做对接和增强采样。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047750" y="5505450"/>
              <a:ext cx="57150" cy="457200"/>
            </a:xfrm>
            <a:prstGeom prst="rect">
              <a:avLst/>
            </a:prstGeom>
            <a:solidFill>
              <a:srgbClr val="C9705B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323213" y="5607050"/>
              <a:ext cx="564439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C9705B"/>
                  </a:solidFill>
                  <a:latin typeface="+mn-lt"/>
                  <a:ea typeface="+mn-ea"/>
                  <a:cs typeface="+mn-cs"/>
                </a:rPr>
                <a:t>判据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315337" y="5632450"/>
              <a:ext cx="335179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F2F6FA"/>
                  </a:solidFill>
                  <a:latin typeface="+mn-lt"/>
                  <a:ea typeface="+mn-ea"/>
                  <a:cs typeface="+mn-cs"/>
                </a:rPr>
                <a:t>异质 β-折叠占比与界面氢键数。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047750" y="7391400"/>
              <a:ext cx="13144500" cy="19050"/>
            </a:xfrm>
            <a:prstGeom prst="rect">
              <a:avLst/>
            </a:prstGeom>
            <a:solidFill>
              <a:srgbClr val="9FB3CF">
                <a:alpha val="50000"/>
              </a:srgbClr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40130" y="7670800"/>
              <a:ext cx="72338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FB3CF"/>
                  </a:solidFill>
                  <a:latin typeface="+mn-lt"/>
                  <a:ea typeface="+mn-ea"/>
                  <a:cs typeface="+mn-cs"/>
                </a:rPr>
                <a:t>阴性结果同样有用：同为阳离子而相斥，说明效应选择性地走 Aβ 和受体两条线。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mechanism"/>
          <p:cNvGrpSpPr/>
          <p:nvPr/>
        </p:nvGrpSpPr>
        <p:grpSpPr>
          <a:xfrm>
            <a:off x="0" y="0"/>
            <a:ext cx="15240000" cy="7964170"/>
            <a:chOff x="0" y="0"/>
            <a:chExt cx="15240000" cy="796417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5240000" cy="1619250"/>
            </a:xfrm>
            <a:prstGeom prst="rect">
              <a:avLst/>
            </a:prstGeom>
            <a:solidFill>
              <a:srgbClr val="15283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1543050"/>
              <a:ext cx="15240000" cy="76200"/>
            </a:xfrm>
            <a:prstGeom prst="rect">
              <a:avLst/>
            </a:prstGeom>
            <a:solidFill>
              <a:srgbClr val="E0A458">
                <a:alpha val="50000"/>
              </a:srgbClr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038606" y="565150"/>
              <a:ext cx="70888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0A458"/>
                  </a:solidFill>
                  <a:latin typeface="+mn-lt"/>
                  <a:ea typeface="+mn-ea"/>
                  <a:cs typeface="+mn-cs"/>
                </a:rPr>
                <a:t>机制 4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31748" y="895350"/>
              <a:ext cx="257632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2F6FA"/>
                  </a:solidFill>
                  <a:latin typeface="+mn-lt"/>
                  <a:ea typeface="+mn-ea"/>
                  <a:cs typeface="+mn-cs"/>
                </a:rPr>
                <a:t>先天免疫受体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1047750" y="2228850"/>
              <a:ext cx="57150" cy="457200"/>
            </a:xfrm>
            <a:prstGeom prst="rect">
              <a:avLst/>
            </a:prstGeom>
            <a:solidFill>
              <a:srgbClr val="E0A458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323213" y="2330450"/>
              <a:ext cx="564439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E0A458"/>
                  </a:solidFill>
                  <a:latin typeface="+mn-lt"/>
                  <a:ea typeface="+mn-ea"/>
                  <a:cs typeface="+mn-cs"/>
                </a:rPr>
                <a:t>假设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315337" y="2355850"/>
              <a:ext cx="9162735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F2F6FA"/>
                  </a:solidFill>
                  <a:latin typeface="+mn-lt"/>
                  <a:ea typeface="+mn-ea"/>
                  <a:cs typeface="+mn-cs"/>
                </a:rPr>
                <a:t>抗菌肽占住 Aβ 用的受体口袋，或改变受体对 Aβ 的识别，由此接上神经炎症这一层表型。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1047750" y="3867150"/>
              <a:ext cx="57150" cy="457200"/>
            </a:xfrm>
            <a:prstGeom prst="rect">
              <a:avLst/>
            </a:prstGeom>
            <a:solidFill>
              <a:srgbClr val="5BA6A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323213" y="3968750"/>
              <a:ext cx="564439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5BA6A8"/>
                  </a:solidFill>
                  <a:latin typeface="+mn-lt"/>
                  <a:ea typeface="+mn-ea"/>
                  <a:cs typeface="+mn-cs"/>
                </a:rPr>
                <a:t>做法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315337" y="3917950"/>
              <a:ext cx="9290304" cy="718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zh-CN" sz="1720" dirty="0">
                  <a:solidFill>
                    <a:srgbClr val="F2F6FA"/>
                  </a:solidFill>
                  <a:latin typeface="+mn-lt"/>
                  <a:ea typeface="+mn-ea"/>
                  <a:cs typeface="+mn-cs"/>
                </a:rPr>
                <a:t>FPR2 用 Aβ42 与 humanin 的复合物结构做口袋对接加膜环境 MD；CLIC1 按 LL-37 的路子算结合</a:t>
              </a:r>
              <a:br>
                <a:rPr lang="zh-CN" sz="1720" dirty="0">
                  <a:solidFill>
                    <a:srgbClr val="F2F6FA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720" dirty="0">
                  <a:solidFill>
                    <a:srgbClr val="F2F6FA"/>
                  </a:solidFill>
                  <a:latin typeface="+mn-lt"/>
                  <a:ea typeface="+mn-ea"/>
                  <a:cs typeface="+mn-cs"/>
                </a:rPr>
                <a:t>面并看跨膜段插入倾向；TLR4–MD-2、CD14、RAGE 把候选肽当第二配体，比 pH 7.4 与 6.0。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047750" y="5886450"/>
              <a:ext cx="57150" cy="457200"/>
            </a:xfrm>
            <a:prstGeom prst="rect">
              <a:avLst/>
            </a:prstGeom>
            <a:solidFill>
              <a:srgbClr val="C9705B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323213" y="5988050"/>
              <a:ext cx="564439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C9705B"/>
                  </a:solidFill>
                  <a:latin typeface="+mn-lt"/>
                  <a:ea typeface="+mn-ea"/>
                  <a:cs typeface="+mn-cs"/>
                </a:rPr>
                <a:t>判据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315337" y="6013450"/>
              <a:ext cx="8952596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F2F6FA"/>
                  </a:solidFill>
                  <a:latin typeface="+mn-lt"/>
                  <a:ea typeface="+mn-ea"/>
                  <a:cs typeface="+mn-cs"/>
                </a:rPr>
                <a:t>位点重合率、界面面积能否和 Aβ42 的 1166 Å² 同量级、TM6 外移这类激活构象指标。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047750" y="7391400"/>
              <a:ext cx="13144500" cy="19050"/>
            </a:xfrm>
            <a:prstGeom prst="rect">
              <a:avLst/>
            </a:prstGeom>
            <a:solidFill>
              <a:srgbClr val="9FB3CF">
                <a:alpha val="50000"/>
              </a:srgbClr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40130" y="7670800"/>
              <a:ext cx="899583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FB3CF"/>
                  </a:solidFill>
                  <a:latin typeface="+mn-lt"/>
                  <a:ea typeface="+mn-ea"/>
                  <a:cs typeface="+mn-cs"/>
                </a:rPr>
                <a:t>细胞端：小胶质炎症因子、NF-κB 报告、钙成像。LL-37 经 CLIC1 做出 AD 样表型，是现成的参照。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mechanism"/>
          <p:cNvGrpSpPr/>
          <p:nvPr/>
        </p:nvGrpSpPr>
        <p:grpSpPr>
          <a:xfrm>
            <a:off x="0" y="0"/>
            <a:ext cx="15240000" cy="7964170"/>
            <a:chOff x="0" y="0"/>
            <a:chExt cx="15240000" cy="796417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5240000" cy="1619250"/>
            </a:xfrm>
            <a:prstGeom prst="rect">
              <a:avLst/>
            </a:prstGeom>
            <a:solidFill>
              <a:srgbClr val="15283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1543050"/>
              <a:ext cx="15240000" cy="76200"/>
            </a:xfrm>
            <a:prstGeom prst="rect">
              <a:avLst/>
            </a:prstGeom>
            <a:solidFill>
              <a:srgbClr val="E0A458">
                <a:alpha val="50000"/>
              </a:srgbClr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038606" y="565150"/>
              <a:ext cx="70888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0A458"/>
                  </a:solidFill>
                  <a:latin typeface="+mn-lt"/>
                  <a:ea typeface="+mn-ea"/>
                  <a:cs typeface="+mn-cs"/>
                </a:rPr>
                <a:t>机制 5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31748" y="895350"/>
              <a:ext cx="257632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2F6FA"/>
                  </a:solidFill>
                  <a:latin typeface="+mn-lt"/>
                  <a:ea typeface="+mn-ea"/>
                  <a:cs typeface="+mn-cs"/>
                </a:rPr>
                <a:t>神经元膜界面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1047750" y="2228850"/>
              <a:ext cx="57150" cy="457200"/>
            </a:xfrm>
            <a:prstGeom prst="rect">
              <a:avLst/>
            </a:prstGeom>
            <a:solidFill>
              <a:srgbClr val="E0A458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323213" y="2330450"/>
              <a:ext cx="564439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E0A458"/>
                  </a:solidFill>
                  <a:latin typeface="+mn-lt"/>
                  <a:ea typeface="+mn-ea"/>
                  <a:cs typeface="+mn-cs"/>
                </a:rPr>
                <a:t>假设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315337" y="2279650"/>
              <a:ext cx="9661652" cy="718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zh-CN" sz="1720" dirty="0">
                  <a:solidFill>
                    <a:srgbClr val="F2F6FA"/>
                  </a:solidFill>
                  <a:latin typeface="+mn-lt"/>
                  <a:ea typeface="+mn-ea"/>
                  <a:cs typeface="+mn-cs"/>
                </a:rPr>
                <a:t>抗菌肽对细菌膜的选择性一旦丧失，就会在含 GM1 的神经元膜上富集，把 Aβ 招到同一界面上促进成</a:t>
              </a:r>
              <a:br>
                <a:rPr lang="zh-CN" sz="1720" dirty="0">
                  <a:solidFill>
                    <a:srgbClr val="F2F6FA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720" dirty="0">
                  <a:solidFill>
                    <a:srgbClr val="F2F6FA"/>
                  </a:solidFill>
                  <a:latin typeface="+mn-lt"/>
                  <a:ea typeface="+mn-ea"/>
                  <a:cs typeface="+mn-cs"/>
                </a:rPr>
                <a:t>核。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1047750" y="4248150"/>
              <a:ext cx="57150" cy="457200"/>
            </a:xfrm>
            <a:prstGeom prst="rect">
              <a:avLst/>
            </a:prstGeom>
            <a:solidFill>
              <a:srgbClr val="5BA6A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323213" y="4349750"/>
              <a:ext cx="564439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5BA6A8"/>
                  </a:solidFill>
                  <a:latin typeface="+mn-lt"/>
                  <a:ea typeface="+mn-ea"/>
                  <a:cs typeface="+mn-cs"/>
                </a:rPr>
                <a:t>做法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315337" y="4298950"/>
              <a:ext cx="9661652" cy="718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zh-CN" sz="1720" dirty="0">
                  <a:solidFill>
                    <a:srgbClr val="F2F6FA"/>
                  </a:solidFill>
                  <a:latin typeface="+mn-lt"/>
                  <a:ea typeface="+mn-ea"/>
                  <a:cs typeface="+mn-cs"/>
                </a:rPr>
                <a:t>建细菌内膜、含 GM1 与胆固醇的神经元膜、内皮膜三套；Martini 3 跑十几微秒看吸附和聚集，关键</a:t>
              </a:r>
              <a:br>
                <a:rPr lang="zh-CN" sz="1720" dirty="0">
                  <a:solidFill>
                    <a:srgbClr val="F2F6FA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720" dirty="0">
                  <a:solidFill>
                    <a:srgbClr val="F2F6FA"/>
                  </a:solidFill>
                  <a:latin typeface="+mn-lt"/>
                  <a:ea typeface="+mn-ea"/>
                  <a:cs typeface="+mn-cs"/>
                </a:rPr>
                <a:t>构象回到全原子。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047750" y="6267450"/>
              <a:ext cx="57150" cy="457200"/>
            </a:xfrm>
            <a:prstGeom prst="rect">
              <a:avLst/>
            </a:prstGeom>
            <a:solidFill>
              <a:srgbClr val="C9705B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323213" y="6369050"/>
              <a:ext cx="564439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C9705B"/>
                  </a:solidFill>
                  <a:latin typeface="+mn-lt"/>
                  <a:ea typeface="+mn-ea"/>
                  <a:cs typeface="+mn-cs"/>
                </a:rPr>
                <a:t>判据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315337" y="6394450"/>
              <a:ext cx="9047836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F2F6FA"/>
                  </a:solidFill>
                  <a:latin typeface="+mn-lt"/>
                  <a:ea typeface="+mn-ea"/>
                  <a:cs typeface="+mn-cs"/>
                </a:rPr>
                <a:t>两类膜的结合自由能差，也就是选择性；插入深度、膜厚与曲率扰动、水柱或孔的寿命。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047750" y="7391400"/>
              <a:ext cx="13144500" cy="19050"/>
            </a:xfrm>
            <a:prstGeom prst="rect">
              <a:avLst/>
            </a:prstGeom>
            <a:solidFill>
              <a:srgbClr val="9FB3CF">
                <a:alpha val="50000"/>
              </a:srgbClr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40130" y="7670800"/>
              <a:ext cx="49503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FB3CF"/>
                  </a:solidFill>
                  <a:latin typeface="+mn-lt"/>
                  <a:ea typeface="+mn-ea"/>
                  <a:cs typeface="+mn-cs"/>
                </a:rPr>
                <a:t>这条通道不需要抗菌肽直接结合 Aβ，独立于交叉成核。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mechanism"/>
          <p:cNvGrpSpPr/>
          <p:nvPr/>
        </p:nvGrpSpPr>
        <p:grpSpPr>
          <a:xfrm>
            <a:off x="0" y="0"/>
            <a:ext cx="15240000" cy="7964170"/>
            <a:chOff x="0" y="0"/>
            <a:chExt cx="15240000" cy="796417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5240000" cy="1619250"/>
            </a:xfrm>
            <a:prstGeom prst="rect">
              <a:avLst/>
            </a:prstGeom>
            <a:solidFill>
              <a:srgbClr val="15283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1543050"/>
              <a:ext cx="15240000" cy="76200"/>
            </a:xfrm>
            <a:prstGeom prst="rect">
              <a:avLst/>
            </a:prstGeom>
            <a:solidFill>
              <a:srgbClr val="E0A458">
                <a:alpha val="50000"/>
              </a:srgbClr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038606" y="565150"/>
              <a:ext cx="70888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0A458"/>
                  </a:solidFill>
                  <a:latin typeface="+mn-lt"/>
                  <a:ea typeface="+mn-ea"/>
                  <a:cs typeface="+mn-cs"/>
                </a:rPr>
                <a:t>机制 6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31748" y="895350"/>
              <a:ext cx="406542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2F6FA"/>
                  </a:solidFill>
                  <a:latin typeface="+mn-lt"/>
                  <a:ea typeface="+mn-ea"/>
                  <a:cs typeface="+mn-cs"/>
                </a:rPr>
                <a:t>Aβ 清除通路里的竞争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1047750" y="2228850"/>
              <a:ext cx="57150" cy="457200"/>
            </a:xfrm>
            <a:prstGeom prst="rect">
              <a:avLst/>
            </a:prstGeom>
            <a:solidFill>
              <a:srgbClr val="E0A458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323213" y="2330450"/>
              <a:ext cx="564439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E0A458"/>
                  </a:solidFill>
                  <a:latin typeface="+mn-lt"/>
                  <a:ea typeface="+mn-ea"/>
                  <a:cs typeface="+mn-cs"/>
                </a:rPr>
                <a:t>假设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315337" y="2279650"/>
              <a:ext cx="9486900" cy="718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zh-CN" sz="1720" dirty="0">
                  <a:solidFill>
                    <a:srgbClr val="F2F6FA"/>
                  </a:solidFill>
                  <a:latin typeface="+mn-lt"/>
                  <a:ea typeface="+mn-ea"/>
                  <a:cs typeface="+mn-cs"/>
                </a:rPr>
                <a:t>候选肽占住 IDE、NEP 的催化腔，或者占住外周沉降槽的结合面，不进脑也能把脑内 Aβ 负荷抬上去</a:t>
              </a:r>
              <a:br>
                <a:rPr lang="zh-CN" sz="1720" dirty="0">
                  <a:solidFill>
                    <a:srgbClr val="F2F6FA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720" dirty="0">
                  <a:solidFill>
                    <a:srgbClr val="F2F6FA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1047750" y="4248150"/>
              <a:ext cx="57150" cy="457200"/>
            </a:xfrm>
            <a:prstGeom prst="rect">
              <a:avLst/>
            </a:prstGeom>
            <a:solidFill>
              <a:srgbClr val="5BA6A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323213" y="4349750"/>
              <a:ext cx="564439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5BA6A8"/>
                  </a:solidFill>
                  <a:latin typeface="+mn-lt"/>
                  <a:ea typeface="+mn-ea"/>
                  <a:cs typeface="+mn-cs"/>
                </a:rPr>
                <a:t>做法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315337" y="4298950"/>
              <a:ext cx="9475978" cy="718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zh-CN" sz="1720" dirty="0">
                  <a:solidFill>
                    <a:srgbClr val="F2F6FA"/>
                  </a:solidFill>
                  <a:latin typeface="+mn-lt"/>
                  <a:ea typeface="+mn-ea"/>
                  <a:cs typeface="+mn-cs"/>
                </a:rPr>
                <a:t>候选肽与 Aβ 分别对接进 IDE 封闭催化腔并跑 MD，比停留时间和腔口闭合；用竞争模型换算成降解</a:t>
              </a:r>
              <a:br>
                <a:rPr lang="zh-CN" sz="1720" dirty="0">
                  <a:solidFill>
                    <a:srgbClr val="F2F6FA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720" dirty="0">
                  <a:solidFill>
                    <a:srgbClr val="F2F6FA"/>
                  </a:solidFill>
                  <a:latin typeface="+mn-lt"/>
                  <a:ea typeface="+mn-ea"/>
                  <a:cs typeface="+mn-cs"/>
                </a:rPr>
                <a:t>速率的相对下降；再看与 TTR、白蛋白的结合面是否与 Aβ 的重叠。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047750" y="6267450"/>
              <a:ext cx="57150" cy="457200"/>
            </a:xfrm>
            <a:prstGeom prst="rect">
              <a:avLst/>
            </a:prstGeom>
            <a:solidFill>
              <a:srgbClr val="C9705B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323213" y="6369050"/>
              <a:ext cx="564439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C9705B"/>
                  </a:solidFill>
                  <a:latin typeface="+mn-lt"/>
                  <a:ea typeface="+mn-ea"/>
                  <a:cs typeface="+mn-cs"/>
                </a:rPr>
                <a:t>判据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315337" y="6394450"/>
              <a:ext cx="597940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F2F6FA"/>
                  </a:solidFill>
                  <a:latin typeface="+mn-lt"/>
                  <a:ea typeface="+mn-ea"/>
                  <a:cs typeface="+mn-cs"/>
                </a:rPr>
                <a:t>占位时间比、相对抑制常数排序、外周 Aβ 结合竞争实验。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047750" y="7391400"/>
              <a:ext cx="13144500" cy="19050"/>
            </a:xfrm>
            <a:prstGeom prst="rect">
              <a:avLst/>
            </a:prstGeom>
            <a:solidFill>
              <a:srgbClr val="9FB3CF">
                <a:alpha val="50000"/>
              </a:srgbClr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40130" y="7670800"/>
              <a:ext cx="35991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FB3CF"/>
                  </a:solidFill>
                  <a:latin typeface="+mn-lt"/>
                  <a:ea typeface="+mn-ea"/>
                  <a:cs typeface="+mn-cs"/>
                </a:rPr>
                <a:t>胰岛素竞争拖慢 Aβ 降解是现成的先例。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mechanism"/>
          <p:cNvGrpSpPr/>
          <p:nvPr/>
        </p:nvGrpSpPr>
        <p:grpSpPr>
          <a:xfrm>
            <a:off x="0" y="0"/>
            <a:ext cx="15240000" cy="7964170"/>
            <a:chOff x="0" y="0"/>
            <a:chExt cx="15240000" cy="796417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5240000" cy="1619250"/>
            </a:xfrm>
            <a:prstGeom prst="rect">
              <a:avLst/>
            </a:prstGeom>
            <a:solidFill>
              <a:srgbClr val="15283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1543050"/>
              <a:ext cx="15240000" cy="76200"/>
            </a:xfrm>
            <a:prstGeom prst="rect">
              <a:avLst/>
            </a:prstGeom>
            <a:solidFill>
              <a:srgbClr val="E0A458">
                <a:alpha val="50000"/>
              </a:srgbClr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038606" y="565150"/>
              <a:ext cx="70888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0A458"/>
                  </a:solidFill>
                  <a:latin typeface="+mn-lt"/>
                  <a:ea typeface="+mn-ea"/>
                  <a:cs typeface="+mn-cs"/>
                </a:rPr>
                <a:t>机制 7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31748" y="895350"/>
              <a:ext cx="427253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2F6FA"/>
                  </a:solidFill>
                  <a:latin typeface="+mn-lt"/>
                  <a:ea typeface="+mn-ea"/>
                  <a:cs typeface="+mn-cs"/>
                </a:rPr>
                <a:t>抗菌肽自己的淀粉样化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1047750" y="2228850"/>
              <a:ext cx="57150" cy="457200"/>
            </a:xfrm>
            <a:prstGeom prst="rect">
              <a:avLst/>
            </a:prstGeom>
            <a:solidFill>
              <a:srgbClr val="E0A458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323213" y="2330450"/>
              <a:ext cx="564439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E0A458"/>
                  </a:solidFill>
                  <a:latin typeface="+mn-lt"/>
                  <a:ea typeface="+mn-ea"/>
                  <a:cs typeface="+mn-cs"/>
                </a:rPr>
                <a:t>假设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315337" y="2355850"/>
              <a:ext cx="927938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F2F6FA"/>
                  </a:solidFill>
                  <a:latin typeface="+mn-lt"/>
                  <a:ea typeface="+mn-ea"/>
                  <a:cs typeface="+mn-cs"/>
                </a:rPr>
                <a:t>候选肽先在肠腔或循环里形成种子，再以种子而不是单体的形式参与宿主蛋白的异质成核。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1047750" y="3867150"/>
              <a:ext cx="57150" cy="457200"/>
            </a:xfrm>
            <a:prstGeom prst="rect">
              <a:avLst/>
            </a:prstGeom>
            <a:solidFill>
              <a:srgbClr val="5BA6A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323213" y="3968750"/>
              <a:ext cx="564439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5BA6A8"/>
                  </a:solidFill>
                  <a:latin typeface="+mn-lt"/>
                  <a:ea typeface="+mn-ea"/>
                  <a:cs typeface="+mn-cs"/>
                </a:rPr>
                <a:t>做法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315337" y="3917950"/>
              <a:ext cx="9781794" cy="718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zh-CN" sz="1720" dirty="0">
                  <a:solidFill>
                    <a:srgbClr val="F2F6FA"/>
                  </a:solidFill>
                  <a:latin typeface="+mn-lt"/>
                  <a:ea typeface="+mn-ea"/>
                  <a:cs typeface="+mn-cs"/>
                </a:rPr>
                <a:t>聚集倾向预测找热点，枚举 steric zipper，对最优的跑几百纳秒稳定性模拟看剥离功和氢键网络，再</a:t>
              </a:r>
              <a:br>
                <a:rPr lang="zh-CN" sz="1720" dirty="0">
                  <a:solidFill>
                    <a:srgbClr val="F2F6FA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720" dirty="0">
                  <a:solidFill>
                    <a:srgbClr val="F2F6FA"/>
                  </a:solidFill>
                  <a:latin typeface="+mn-lt"/>
                  <a:ea typeface="+mn-ea"/>
                  <a:cs typeface="+mn-cs"/>
                </a:rPr>
                <a:t>把稳定 zipper 当种子面算 Aβ 的结合与伸长自由能。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047750" y="5886450"/>
              <a:ext cx="57150" cy="457200"/>
            </a:xfrm>
            <a:prstGeom prst="rect">
              <a:avLst/>
            </a:prstGeom>
            <a:solidFill>
              <a:srgbClr val="C9705B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323213" y="5988050"/>
              <a:ext cx="564439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C9705B"/>
                  </a:solidFill>
                  <a:latin typeface="+mn-lt"/>
                  <a:ea typeface="+mn-ea"/>
                  <a:cs typeface="+mn-cs"/>
                </a:rPr>
                <a:t>判据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315337" y="6013450"/>
              <a:ext cx="6060450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F2F6FA"/>
                  </a:solidFill>
                  <a:latin typeface="+mn-lt"/>
                  <a:ea typeface="+mn-ea"/>
                  <a:cs typeface="+mn-cs"/>
                </a:rPr>
                <a:t>zipper 剥离功；种子面对 Aβ 的伸长自由能是否显著为负。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047750" y="7391400"/>
              <a:ext cx="13144500" cy="19050"/>
            </a:xfrm>
            <a:prstGeom prst="rect">
              <a:avLst/>
            </a:prstGeom>
            <a:solidFill>
              <a:srgbClr val="9FB3CF">
                <a:alpha val="50000"/>
              </a:srgbClr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40130" y="7670800"/>
              <a:ext cx="91369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FB3CF"/>
                  </a:solidFill>
                  <a:latin typeface="+mn-lt"/>
                  <a:ea typeface="+mn-ea"/>
                  <a:cs typeface="+mn-cs"/>
                </a:rPr>
                <a:t>uperin 3.5 在无脂时成 cross-β、遇膜脂转 cross-α；LL-37 的 17–29 片段能自组装成功能性纤维。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mechanism"/>
          <p:cNvGrpSpPr/>
          <p:nvPr/>
        </p:nvGrpSpPr>
        <p:grpSpPr>
          <a:xfrm>
            <a:off x="0" y="0"/>
            <a:ext cx="15240000" cy="7964170"/>
            <a:chOff x="0" y="0"/>
            <a:chExt cx="15240000" cy="796417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5240000" cy="1619250"/>
            </a:xfrm>
            <a:prstGeom prst="rect">
              <a:avLst/>
            </a:prstGeom>
            <a:solidFill>
              <a:srgbClr val="15283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1543050"/>
              <a:ext cx="15240000" cy="76200"/>
            </a:xfrm>
            <a:prstGeom prst="rect">
              <a:avLst/>
            </a:prstGeom>
            <a:solidFill>
              <a:srgbClr val="E0A458">
                <a:alpha val="50000"/>
              </a:srgbClr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038606" y="565150"/>
              <a:ext cx="70888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0A458"/>
                  </a:solidFill>
                  <a:latin typeface="+mn-lt"/>
                  <a:ea typeface="+mn-ea"/>
                  <a:cs typeface="+mn-cs"/>
                </a:rPr>
                <a:t>机制 8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31748" y="895350"/>
              <a:ext cx="215226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2F6FA"/>
                  </a:solidFill>
                  <a:latin typeface="+mn-lt"/>
                  <a:ea typeface="+mn-ea"/>
                  <a:cs typeface="+mn-cs"/>
                </a:rPr>
                <a:t>肠道这一端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1047750" y="2228850"/>
              <a:ext cx="57150" cy="457200"/>
            </a:xfrm>
            <a:prstGeom prst="rect">
              <a:avLst/>
            </a:prstGeom>
            <a:solidFill>
              <a:srgbClr val="E0A458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323213" y="2330450"/>
              <a:ext cx="564439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E0A458"/>
                  </a:solidFill>
                  <a:latin typeface="+mn-lt"/>
                  <a:ea typeface="+mn-ea"/>
                  <a:cs typeface="+mn-cs"/>
                </a:rPr>
                <a:t>假设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315337" y="2355850"/>
              <a:ext cx="951092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F2F6FA"/>
                  </a:solidFill>
                  <a:latin typeface="+mn-lt"/>
                  <a:ea typeface="+mn-ea"/>
                  <a:cs typeface="+mn-cs"/>
                </a:rPr>
                <a:t>肠道端本身就能构成完整链条：抗菌肽改变细菌功能性淀粉样蛋白的组装，并重塑菌群结构。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1047750" y="3867150"/>
              <a:ext cx="57150" cy="457200"/>
            </a:xfrm>
            <a:prstGeom prst="rect">
              <a:avLst/>
            </a:prstGeom>
            <a:solidFill>
              <a:srgbClr val="5BA6A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323213" y="3968750"/>
              <a:ext cx="564439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5BA6A8"/>
                  </a:solidFill>
                  <a:latin typeface="+mn-lt"/>
                  <a:ea typeface="+mn-ea"/>
                  <a:cs typeface="+mn-cs"/>
                </a:rPr>
                <a:t>做法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315337" y="3917950"/>
              <a:ext cx="9803638" cy="718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zh-CN" sz="1720" dirty="0">
                  <a:solidFill>
                    <a:srgbClr val="F2F6FA"/>
                  </a:solidFill>
                  <a:latin typeface="+mn-lt"/>
                  <a:ea typeface="+mn-ea"/>
                  <a:cs typeface="+mn-cs"/>
                </a:rPr>
                <a:t>分子面是与 CsgA、FapC 组装界面的对接与 MD；群落面是用 MIC 谱作约束做群落代谢模型，预测短链</a:t>
              </a:r>
              <a:br>
                <a:rPr lang="zh-CN" sz="1720" dirty="0">
                  <a:solidFill>
                    <a:srgbClr val="F2F6FA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720" dirty="0">
                  <a:solidFill>
                    <a:srgbClr val="F2F6FA"/>
                  </a:solidFill>
                  <a:latin typeface="+mn-lt"/>
                  <a:ea typeface="+mn-ea"/>
                  <a:cs typeface="+mn-cs"/>
                </a:rPr>
                <a:t>脂肪酸产生菌与高产 LPS 菌的变化。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047750" y="5886450"/>
              <a:ext cx="57150" cy="457200"/>
            </a:xfrm>
            <a:prstGeom prst="rect">
              <a:avLst/>
            </a:prstGeom>
            <a:solidFill>
              <a:srgbClr val="C9705B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323213" y="5988050"/>
              <a:ext cx="564439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C9705B"/>
                  </a:solidFill>
                  <a:latin typeface="+mn-lt"/>
                  <a:ea typeface="+mn-ea"/>
                  <a:cs typeface="+mn-cs"/>
                </a:rPr>
                <a:t>判据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315337" y="5937250"/>
              <a:ext cx="9901936" cy="718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zh-CN" sz="1720" dirty="0">
                  <a:solidFill>
                    <a:srgbClr val="F2F6FA"/>
                  </a:solidFill>
                  <a:latin typeface="+mn-lt"/>
                  <a:ea typeface="+mn-ea"/>
                  <a:cs typeface="+mn-cs"/>
                </a:rPr>
                <a:t>配准偏移与可溶寡聚体占比；丁酸丙酸通量与 LPS 负荷；肠屏障跨上皮电阻、血清细胞因子、小胶质表</a:t>
              </a:r>
              <a:br>
                <a:rPr lang="zh-CN" sz="1720" dirty="0">
                  <a:solidFill>
                    <a:srgbClr val="F2F6FA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720" dirty="0">
                  <a:solidFill>
                    <a:srgbClr val="F2F6FA"/>
                  </a:solidFill>
                  <a:latin typeface="+mn-lt"/>
                  <a:ea typeface="+mn-ea"/>
                  <a:cs typeface="+mn-cs"/>
                </a:rPr>
                <a:t>型。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047750" y="7391400"/>
              <a:ext cx="13144500" cy="19050"/>
            </a:xfrm>
            <a:prstGeom prst="rect">
              <a:avLst/>
            </a:prstGeom>
            <a:solidFill>
              <a:srgbClr val="9FB3CF">
                <a:alpha val="50000"/>
              </a:srgbClr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40130" y="7670800"/>
              <a:ext cx="806215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FB3CF"/>
                  </a:solidFill>
                  <a:latin typeface="+mn-lt"/>
                  <a:ea typeface="+mn-ea"/>
                  <a:cs typeface="+mn-cs"/>
                </a:rPr>
                <a:t>注意方向：把 curli 从胞外纤维变成可溶寡聚体，可能反而提高跨上皮和交叉成核的能力。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routes"/>
          <p:cNvGrpSpPr/>
          <p:nvPr/>
        </p:nvGrpSpPr>
        <p:grpSpPr>
          <a:xfrm>
            <a:off x="1030986" y="736600"/>
            <a:ext cx="13161264" cy="7303326"/>
            <a:chOff x="1030986" y="736600"/>
            <a:chExt cx="13161264" cy="7303326"/>
          </a:xfrm>
        </p:grpSpPr>
        <p:sp>
          <p:nvSpPr>
            <p:cNvPr id="2" name="TextBox 2"/>
            <p:cNvSpPr txBox="1"/>
            <p:nvPr/>
          </p:nvSpPr>
          <p:spPr>
            <a:xfrm>
              <a:off x="1030986" y="736600"/>
              <a:ext cx="53644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2F6FA"/>
                  </a:solidFill>
                  <a:latin typeface="+mn-lt"/>
                  <a:ea typeface="+mn-ea"/>
                  <a:cs typeface="+mn-cs"/>
                </a:rPr>
                <a:t>肠道来源要不要过血脑屏障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1047750" y="1409700"/>
              <a:ext cx="1143000" cy="47625"/>
            </a:xfrm>
            <a:prstGeom prst="rect">
              <a:avLst/>
            </a:prstGeom>
            <a:solidFill>
              <a:srgbClr val="E0A458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1047750" y="2095500"/>
              <a:ext cx="13144500" cy="1428750"/>
            </a:xfrm>
            <a:prstGeom prst="rect">
              <a:avLst/>
            </a:prstGeom>
            <a:solidFill>
              <a:srgbClr val="15283F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1047750" y="2095500"/>
              <a:ext cx="76200" cy="1428750"/>
            </a:xfrm>
            <a:prstGeom prst="rect">
              <a:avLst/>
            </a:prstGeom>
            <a:solidFill>
              <a:srgbClr val="C9705B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418082" y="2355850"/>
              <a:ext cx="206255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C9705B"/>
                  </a:solidFill>
                  <a:latin typeface="+mn-lt"/>
                  <a:ea typeface="+mn-ea"/>
                  <a:cs typeface="+mn-cs"/>
                </a:rPr>
                <a:t>R1　跨屏障入脑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420368" y="2844800"/>
              <a:ext cx="102344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2F6FA"/>
                  </a:solidFill>
                  <a:latin typeface="+mn-lt"/>
                  <a:ea typeface="+mn-ea"/>
                  <a:cs typeface="+mn-cs"/>
                </a:rPr>
                <a:t>吸收入血后经被动扩散或受体介导转胞吞进入脑实质，在脑间质达到可作用的游离浓度。最苛刻的一条。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047750" y="3771900"/>
              <a:ext cx="13144500" cy="1428750"/>
            </a:xfrm>
            <a:prstGeom prst="rect">
              <a:avLst/>
            </a:prstGeom>
            <a:solidFill>
              <a:srgbClr val="15283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1047750" y="3771900"/>
              <a:ext cx="76200" cy="1428750"/>
            </a:xfrm>
            <a:prstGeom prst="rect">
              <a:avLst/>
            </a:prstGeom>
            <a:solidFill>
              <a:srgbClr val="5BA6A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418082" y="4032250"/>
              <a:ext cx="234525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5BA6A8"/>
                  </a:solidFill>
                  <a:latin typeface="+mn-lt"/>
                  <a:ea typeface="+mn-ea"/>
                  <a:cs typeface="+mn-cs"/>
                </a:rPr>
                <a:t>R2　肠道就地起效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20368" y="4521200"/>
              <a:ext cx="1178928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2F6FA"/>
                  </a:solidFill>
                  <a:latin typeface="+mn-lt"/>
                  <a:ea typeface="+mn-ea"/>
                  <a:cs typeface="+mn-cs"/>
                </a:rPr>
                <a:t>肠腔浓度可到微摩尔以上，作用于菌群、细菌功能性淀粉样蛋白、肠上皮与肠神经系统，经迷走和免疫把信号送到中枢。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047750" y="5448300"/>
              <a:ext cx="13144500" cy="1428750"/>
            </a:xfrm>
            <a:prstGeom prst="rect">
              <a:avLst/>
            </a:prstGeom>
            <a:solidFill>
              <a:srgbClr val="15283F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1047750" y="5448300"/>
              <a:ext cx="76200" cy="1428750"/>
            </a:xfrm>
            <a:prstGeom prst="rect">
              <a:avLst/>
            </a:prstGeom>
            <a:solidFill>
              <a:srgbClr val="E0A45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418082" y="5708650"/>
              <a:ext cx="206255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E0A458"/>
                  </a:solidFill>
                  <a:latin typeface="+mn-lt"/>
                  <a:ea typeface="+mn-ea"/>
                  <a:cs typeface="+mn-cs"/>
                </a:rPr>
                <a:t>R3　入血不入脑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420368" y="6197600"/>
              <a:ext cx="87327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2F6FA"/>
                  </a:solidFill>
                  <a:latin typeface="+mn-lt"/>
                  <a:ea typeface="+mn-ea"/>
                  <a:cs typeface="+mn-cs"/>
                </a:rPr>
                <a:t>改变外周对 Aβ 的结合与清除（TTR、白蛋白、单核巨噬），或影响 Aβ 跨屏障的净通量。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38987" y="7340600"/>
              <a:ext cx="12272010" cy="6993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zh-CN" sz="1720" dirty="0">
                  <a:solidFill>
                    <a:srgbClr val="F2F6FA"/>
                  </a:solidFill>
                  <a:latin typeface="+mn-lt"/>
                  <a:ea typeface="+mn-ea"/>
                  <a:cs typeface="+mn-cs"/>
                </a:rPr>
                <a:t>主线放 R2 与 R3。细菌源肽多为十几到几十个残基、净正电荷高，被动过屏障效率低；能过屏障的肽偏小、偏疏水、弱阳离子，</a:t>
              </a:r>
              <a:br>
                <a:rPr lang="zh-CN" sz="1720" dirty="0">
                  <a:solidFill>
                    <a:srgbClr val="F2F6FA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720" dirty="0">
                  <a:solidFill>
                    <a:srgbClr val="F2F6FA"/>
                  </a:solidFill>
                  <a:latin typeface="+mn-lt"/>
                  <a:ea typeface="+mn-ea"/>
                  <a:cs typeface="+mn-cs"/>
                </a:rPr>
                <a:t>和一般穿膜肽不是一回事。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conditions"/>
          <p:cNvGrpSpPr/>
          <p:nvPr/>
        </p:nvGrpSpPr>
        <p:grpSpPr>
          <a:xfrm>
            <a:off x="1030986" y="736600"/>
            <a:ext cx="12875514" cy="7422007"/>
            <a:chOff x="1030986" y="736600"/>
            <a:chExt cx="12875514" cy="7422007"/>
          </a:xfrm>
        </p:grpSpPr>
        <p:sp>
          <p:nvSpPr>
            <p:cNvPr id="2" name="TextBox 2"/>
            <p:cNvSpPr txBox="1"/>
            <p:nvPr/>
          </p:nvSpPr>
          <p:spPr>
            <a:xfrm>
              <a:off x="1030986" y="736600"/>
              <a:ext cx="580872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2F6FA"/>
                  </a:solidFill>
                  <a:latin typeface="+mn-lt"/>
                  <a:ea typeface="+mn-ea"/>
                  <a:cs typeface="+mn-cs"/>
                </a:rPr>
                <a:t>要主张能入脑，四条同时满足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1047750" y="1409700"/>
              <a:ext cx="1143000" cy="47625"/>
            </a:xfrm>
            <a:prstGeom prst="rect">
              <a:avLst/>
            </a:prstGeom>
            <a:solidFill>
              <a:srgbClr val="E0A458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1047750" y="2190750"/>
              <a:ext cx="6191250" cy="2000250"/>
            </a:xfrm>
            <a:prstGeom prst="rect">
              <a:avLst/>
            </a:prstGeom>
            <a:solidFill>
              <a:srgbClr val="15283F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417320" y="2578100"/>
              <a:ext cx="62865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E0A458"/>
                  </a:solidFill>
                  <a:latin typeface="+mn-lt"/>
                  <a:ea typeface="+mn-ea"/>
                  <a:cs typeface="+mn-cs"/>
                </a:rPr>
                <a:t>序列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420368" y="3127375"/>
              <a:ext cx="5465064" cy="6656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650" dirty="0">
                  <a:solidFill>
                    <a:srgbClr val="F2F6FA"/>
                  </a:solidFill>
                  <a:latin typeface="+mn-lt"/>
                  <a:ea typeface="+mn-ea"/>
                  <a:cs typeface="+mn-cs"/>
                </a:rPr>
                <a:t>血脑屏障穿透预测为阳性，不只依赖一个模型，报概率而不</a:t>
              </a:r>
              <a:br>
                <a:rPr lang="zh-CN" sz="1650" dirty="0">
                  <a:solidFill>
                    <a:srgbClr val="F2F6FA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650" dirty="0">
                  <a:solidFill>
                    <a:srgbClr val="F2F6FA"/>
                  </a:solidFill>
                  <a:latin typeface="+mn-lt"/>
                  <a:ea typeface="+mn-ea"/>
                  <a:cs typeface="+mn-cs"/>
                </a:rPr>
                <a:t>是只给标签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7715250" y="2190750"/>
              <a:ext cx="6191250" cy="2000250"/>
            </a:xfrm>
            <a:prstGeom prst="rect">
              <a:avLst/>
            </a:prstGeom>
            <a:solidFill>
              <a:srgbClr val="15283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084820" y="2578100"/>
              <a:ext cx="62865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E0A458"/>
                  </a:solidFill>
                  <a:latin typeface="+mn-lt"/>
                  <a:ea typeface="+mn-ea"/>
                  <a:cs typeface="+mn-cs"/>
                </a:rPr>
                <a:t>物理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087868" y="3127375"/>
              <a:ext cx="5465064" cy="6656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650" dirty="0">
                  <a:solidFill>
                    <a:srgbClr val="F2F6FA"/>
                  </a:solidFill>
                  <a:latin typeface="+mn-lt"/>
                  <a:ea typeface="+mn-ea"/>
                  <a:cs typeface="+mn-cs"/>
                </a:rPr>
                <a:t>跨膜自由能垒在可跨越范围，或能指出受体介导转胞吞的结</a:t>
              </a:r>
              <a:br>
                <a:rPr lang="zh-CN" sz="1650" dirty="0">
                  <a:solidFill>
                    <a:srgbClr val="F2F6FA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650" dirty="0">
                  <a:solidFill>
                    <a:srgbClr val="F2F6FA"/>
                  </a:solidFill>
                  <a:latin typeface="+mn-lt"/>
                  <a:ea typeface="+mn-ea"/>
                  <a:cs typeface="+mn-cs"/>
                </a:rPr>
                <a:t>合面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47750" y="4572000"/>
              <a:ext cx="6191250" cy="2000250"/>
            </a:xfrm>
            <a:prstGeom prst="rect">
              <a:avLst/>
            </a:prstGeom>
            <a:solidFill>
              <a:srgbClr val="15283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417320" y="4959350"/>
              <a:ext cx="62865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E0A458"/>
                  </a:solidFill>
                  <a:latin typeface="+mn-lt"/>
                  <a:ea typeface="+mn-ea"/>
                  <a:cs typeface="+mn-cs"/>
                </a:rPr>
                <a:t>药代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420368" y="5508625"/>
              <a:ext cx="5465064" cy="6656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650" dirty="0">
                  <a:solidFill>
                    <a:srgbClr val="F2F6FA"/>
                  </a:solidFill>
                  <a:latin typeface="+mn-lt"/>
                  <a:ea typeface="+mn-ea"/>
                  <a:cs typeface="+mn-cs"/>
                </a:rPr>
                <a:t>房室模型给出的脑间质游离浓度不低于目标结合常数的十分</a:t>
              </a:r>
              <a:br>
                <a:rPr lang="zh-CN" sz="1650" dirty="0">
                  <a:solidFill>
                    <a:srgbClr val="F2F6FA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650" dirty="0">
                  <a:solidFill>
                    <a:srgbClr val="F2F6FA"/>
                  </a:solidFill>
                  <a:latin typeface="+mn-lt"/>
                  <a:ea typeface="+mn-ea"/>
                  <a:cs typeface="+mn-cs"/>
                </a:rPr>
                <a:t>之一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715250" y="4572000"/>
              <a:ext cx="6191250" cy="2000250"/>
            </a:xfrm>
            <a:prstGeom prst="rect">
              <a:avLst/>
            </a:prstGeom>
            <a:solidFill>
              <a:srgbClr val="15283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084820" y="4959350"/>
              <a:ext cx="62865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E0A458"/>
                  </a:solidFill>
                  <a:latin typeface="+mn-lt"/>
                  <a:ea typeface="+mn-ea"/>
                  <a:cs typeface="+mn-cs"/>
                </a:rPr>
                <a:t>实测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087868" y="5508625"/>
              <a:ext cx="5465064" cy="6656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650" dirty="0">
                  <a:solidFill>
                    <a:srgbClr val="F2F6FA"/>
                  </a:solidFill>
                  <a:latin typeface="+mn-lt"/>
                  <a:ea typeface="+mn-ea"/>
                  <a:cs typeface="+mn-cs"/>
                </a:rPr>
                <a:t>脑组织里用质谱检出完整肽，而不是降解片段或只看荧光标</a:t>
              </a:r>
              <a:br>
                <a:rPr lang="zh-CN" sz="1650" dirty="0">
                  <a:solidFill>
                    <a:srgbClr val="F2F6FA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650" dirty="0">
                  <a:solidFill>
                    <a:srgbClr val="F2F6FA"/>
                  </a:solidFill>
                  <a:latin typeface="+mn-lt"/>
                  <a:ea typeface="+mn-ea"/>
                  <a:cs typeface="+mn-cs"/>
                </a:rPr>
                <a:t>记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38987" y="7404100"/>
              <a:ext cx="1014724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F2F6FA"/>
                  </a:solidFill>
                  <a:latin typeface="+mn-lt"/>
                  <a:ea typeface="+mn-ea"/>
                  <a:cs typeface="+mn-cs"/>
                </a:rPr>
                <a:t>四条里缺一条，机制主线就放回肠道端和外周端。脑内 Aβ 稳态本来就受外周清除和系统炎症调控。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39368" y="7835900"/>
              <a:ext cx="1134503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9FB3CF"/>
                  </a:solidFill>
                  <a:latin typeface="+mn-lt"/>
                  <a:ea typeface="+mn-ea"/>
                  <a:cs typeface="+mn-cs"/>
                </a:rPr>
                <a:t>配套做一件便宜的事：候选肽在模拟肠液与血浆里的稳定性和降解片段谱。片段若变短变疏水，入脑的可能性上升。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pipeline"/>
          <p:cNvGrpSpPr/>
          <p:nvPr/>
        </p:nvGrpSpPr>
        <p:grpSpPr>
          <a:xfrm>
            <a:off x="1030986" y="736600"/>
            <a:ext cx="13066014" cy="6852476"/>
            <a:chOff x="1030986" y="736600"/>
            <a:chExt cx="13066014" cy="6852476"/>
          </a:xfrm>
        </p:grpSpPr>
        <p:sp>
          <p:nvSpPr>
            <p:cNvPr id="2" name="TextBox 2"/>
            <p:cNvSpPr txBox="1"/>
            <p:nvPr/>
          </p:nvSpPr>
          <p:spPr>
            <a:xfrm>
              <a:off x="1030986" y="736600"/>
              <a:ext cx="44759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2F6FA"/>
                  </a:solidFill>
                  <a:latin typeface="+mn-lt"/>
                  <a:ea typeface="+mn-ea"/>
                  <a:cs typeface="+mn-cs"/>
                </a:rPr>
                <a:t>八条共用一套计算流程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1047750" y="1409700"/>
              <a:ext cx="1143000" cy="47625"/>
            </a:xfrm>
            <a:prstGeom prst="rect">
              <a:avLst/>
            </a:prstGeom>
            <a:solidFill>
              <a:srgbClr val="E0A458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1047750" y="2190750"/>
              <a:ext cx="2457450" cy="3143250"/>
            </a:xfrm>
            <a:prstGeom prst="rect">
              <a:avLst/>
            </a:prstGeom>
            <a:solidFill>
              <a:srgbClr val="15283F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1047750" y="2190750"/>
              <a:ext cx="2457450" cy="66675"/>
            </a:xfrm>
            <a:prstGeom prst="rect">
              <a:avLst/>
            </a:prstGeom>
            <a:solidFill>
              <a:srgbClr val="E0A458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322070" y="2625725"/>
              <a:ext cx="62865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2F6FA"/>
                  </a:solidFill>
                  <a:latin typeface="+mn-lt"/>
                  <a:ea typeface="+mn-ea"/>
                  <a:cs typeface="+mn-cs"/>
                </a:rPr>
                <a:t>分诊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325880" y="3248025"/>
              <a:ext cx="2110740" cy="9029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rgbClr val="9FB3CF"/>
                  </a:solidFill>
                  <a:latin typeface="+mn-lt"/>
                  <a:ea typeface="+mn-ea"/>
                  <a:cs typeface="+mn-cs"/>
                </a:rPr>
                <a:t>净电荷、疏水矩、聚集倾</a:t>
              </a:r>
              <a:br>
                <a:rPr lang="zh-CN" sz="1500" dirty="0">
                  <a:solidFill>
                    <a:srgbClr val="9FB3CF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rgbClr val="9FB3CF"/>
                  </a:solidFill>
                  <a:latin typeface="+mn-lt"/>
                  <a:ea typeface="+mn-ea"/>
                  <a:cs typeface="+mn-cs"/>
                </a:rPr>
                <a:t>向、屏障穿透预测，先估</a:t>
              </a:r>
              <a:br>
                <a:rPr lang="zh-CN" sz="1500" dirty="0">
                  <a:solidFill>
                    <a:srgbClr val="9FB3CF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rgbClr val="9FB3CF"/>
                  </a:solidFill>
                  <a:latin typeface="+mn-lt"/>
                  <a:ea typeface="+mn-ea"/>
                  <a:cs typeface="+mn-cs"/>
                </a:rPr>
                <a:t>各隔室的可及浓度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3543300" y="3733800"/>
              <a:ext cx="152400" cy="38100"/>
            </a:xfrm>
            <a:prstGeom prst="rect">
              <a:avLst/>
            </a:prstGeom>
            <a:solidFill>
              <a:srgbClr val="9FB3C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3695700" y="2190750"/>
              <a:ext cx="2457450" cy="3143250"/>
            </a:xfrm>
            <a:prstGeom prst="rect">
              <a:avLst/>
            </a:prstGeom>
            <a:solidFill>
              <a:srgbClr val="15283F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3695700" y="2190750"/>
              <a:ext cx="2457450" cy="66675"/>
            </a:xfrm>
            <a:prstGeom prst="rect">
              <a:avLst/>
            </a:prstGeom>
            <a:solidFill>
              <a:srgbClr val="5BA6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970020" y="2625725"/>
              <a:ext cx="62865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2F6FA"/>
                  </a:solidFill>
                  <a:latin typeface="+mn-lt"/>
                  <a:ea typeface="+mn-ea"/>
                  <a:cs typeface="+mn-cs"/>
                </a:rPr>
                <a:t>结构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973830" y="3248025"/>
              <a:ext cx="2025015" cy="9029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rgbClr val="9FB3CF"/>
                  </a:solidFill>
                  <a:latin typeface="+mn-lt"/>
                  <a:ea typeface="+mn-ea"/>
                  <a:cs typeface="+mn-cs"/>
                </a:rPr>
                <a:t>ESMFold 或 AlphaFold</a:t>
              </a:r>
              <a:br>
                <a:rPr lang="zh-CN" sz="1500" dirty="0">
                  <a:solidFill>
                    <a:srgbClr val="9FB3CF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rgbClr val="9FB3CF"/>
                  </a:solidFill>
                  <a:latin typeface="+mn-lt"/>
                  <a:ea typeface="+mn-ea"/>
                  <a:cs typeface="+mn-cs"/>
                </a:rPr>
                <a:t>3，保留构象系综，准备</a:t>
              </a:r>
              <a:br>
                <a:rPr lang="zh-CN" sz="1500" dirty="0">
                  <a:solidFill>
                    <a:srgbClr val="9FB3CF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rgbClr val="9FB3CF"/>
                  </a:solidFill>
                  <a:latin typeface="+mn-lt"/>
                  <a:ea typeface="+mn-ea"/>
                  <a:cs typeface="+mn-cs"/>
                </a:rPr>
                <a:t>pH 7.4 与 6.0 两套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191250" y="3733800"/>
              <a:ext cx="152400" cy="38100"/>
            </a:xfrm>
            <a:prstGeom prst="rect">
              <a:avLst/>
            </a:prstGeom>
            <a:solidFill>
              <a:srgbClr val="9FB3CF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6343650" y="2190750"/>
              <a:ext cx="2457450" cy="3143250"/>
            </a:xfrm>
            <a:prstGeom prst="rect">
              <a:avLst/>
            </a:prstGeom>
            <a:solidFill>
              <a:srgbClr val="15283F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6343650" y="2190750"/>
              <a:ext cx="2457450" cy="66675"/>
            </a:xfrm>
            <a:prstGeom prst="rect">
              <a:avLst/>
            </a:prstGeom>
            <a:solidFill>
              <a:srgbClr val="E0A45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617970" y="2625725"/>
              <a:ext cx="62865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2F6FA"/>
                  </a:solidFill>
                  <a:latin typeface="+mn-lt"/>
                  <a:ea typeface="+mn-ea"/>
                  <a:cs typeface="+mn-cs"/>
                </a:rPr>
                <a:t>对接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621780" y="3248025"/>
              <a:ext cx="2110740" cy="9029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rgbClr val="9FB3CF"/>
                  </a:solidFill>
                  <a:latin typeface="+mn-lt"/>
                  <a:ea typeface="+mn-ea"/>
                  <a:cs typeface="+mn-cs"/>
                </a:rPr>
                <a:t>HADDOCK 加盲对接，Al</a:t>
              </a:r>
              <a:br>
                <a:rPr lang="zh-CN" sz="1500" dirty="0">
                  <a:solidFill>
                    <a:srgbClr val="9FB3CF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rgbClr val="9FB3CF"/>
                  </a:solidFill>
                  <a:latin typeface="+mn-lt"/>
                  <a:ea typeface="+mn-ea"/>
                  <a:cs typeface="+mn-cs"/>
                </a:rPr>
                <a:t>phaFold-Multimer 交</a:t>
              </a:r>
              <a:br>
                <a:rPr lang="zh-CN" sz="1500" dirty="0">
                  <a:solidFill>
                    <a:srgbClr val="9FB3CF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rgbClr val="9FB3CF"/>
                  </a:solidFill>
                  <a:latin typeface="+mn-lt"/>
                  <a:ea typeface="+mn-ea"/>
                  <a:cs typeface="+mn-cs"/>
                </a:rPr>
                <a:t>叉验证，只用来枚举界面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839200" y="3733800"/>
              <a:ext cx="152400" cy="38100"/>
            </a:xfrm>
            <a:prstGeom prst="rect">
              <a:avLst/>
            </a:prstGeom>
            <a:solidFill>
              <a:srgbClr val="9FB3CF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8991600" y="2190750"/>
              <a:ext cx="2457450" cy="3143250"/>
            </a:xfrm>
            <a:prstGeom prst="rect">
              <a:avLst/>
            </a:prstGeom>
            <a:solidFill>
              <a:srgbClr val="15283F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8991600" y="2190750"/>
              <a:ext cx="2457450" cy="66675"/>
            </a:xfrm>
            <a:prstGeom prst="rect">
              <a:avLst/>
            </a:prstGeom>
            <a:solidFill>
              <a:srgbClr val="5BA6A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265920" y="2625725"/>
              <a:ext cx="93154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2F6FA"/>
                  </a:solidFill>
                  <a:latin typeface="+mn-lt"/>
                  <a:ea typeface="+mn-ea"/>
                  <a:cs typeface="+mn-cs"/>
                </a:rPr>
                <a:t>动力学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269730" y="3248025"/>
              <a:ext cx="2110740" cy="12077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rgbClr val="9FB3CF"/>
                  </a:solidFill>
                  <a:latin typeface="+mn-lt"/>
                  <a:ea typeface="+mn-ea"/>
                  <a:cs typeface="+mn-cs"/>
                </a:rPr>
                <a:t>每个体系三条 1 μs，</a:t>
              </a:r>
              <a:br>
                <a:rPr lang="zh-CN" sz="1500" dirty="0">
                  <a:solidFill>
                    <a:srgbClr val="9FB3CF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rgbClr val="9FB3CF"/>
                  </a:solidFill>
                  <a:latin typeface="+mn-lt"/>
                  <a:ea typeface="+mn-ea"/>
                  <a:cs typeface="+mn-cs"/>
                </a:rPr>
                <a:t>膜体系先 Martini 3</a:t>
              </a:r>
              <a:br>
                <a:rPr lang="zh-CN" sz="1500" dirty="0">
                  <a:solidFill>
                    <a:srgbClr val="9FB3CF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rgbClr val="9FB3CF"/>
                  </a:solidFill>
                  <a:latin typeface="+mn-lt"/>
                  <a:ea typeface="+mn-ea"/>
                  <a:cs typeface="+mn-cs"/>
                </a:rPr>
                <a:t>再回全原子，自由能用伞</a:t>
              </a:r>
              <a:br>
                <a:rPr lang="zh-CN" sz="1500" dirty="0">
                  <a:solidFill>
                    <a:srgbClr val="9FB3CF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rgbClr val="9FB3CF"/>
                  </a:solidFill>
                  <a:latin typeface="+mn-lt"/>
                  <a:ea typeface="+mn-ea"/>
                  <a:cs typeface="+mn-cs"/>
                </a:rPr>
                <a:t>形采样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11487150" y="3733800"/>
              <a:ext cx="152400" cy="38100"/>
            </a:xfrm>
            <a:prstGeom prst="rect">
              <a:avLst/>
            </a:prstGeom>
            <a:solidFill>
              <a:srgbClr val="9FB3CF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11639550" y="2190750"/>
              <a:ext cx="2457450" cy="3143250"/>
            </a:xfrm>
            <a:prstGeom prst="rect">
              <a:avLst/>
            </a:prstGeom>
            <a:solidFill>
              <a:srgbClr val="15283F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11639550" y="2190750"/>
              <a:ext cx="2457450" cy="66675"/>
            </a:xfrm>
            <a:prstGeom prst="rect">
              <a:avLst/>
            </a:prstGeom>
            <a:solidFill>
              <a:srgbClr val="E0A45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1913870" y="2625725"/>
              <a:ext cx="62865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2F6FA"/>
                  </a:solidFill>
                  <a:latin typeface="+mn-lt"/>
                  <a:ea typeface="+mn-ea"/>
                  <a:cs typeface="+mn-cs"/>
                </a:rPr>
                <a:t>对照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917680" y="3248025"/>
              <a:ext cx="2110740" cy="9029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rgbClr val="9FB3CF"/>
                  </a:solidFill>
                  <a:latin typeface="+mn-lt"/>
                  <a:ea typeface="+mn-ea"/>
                  <a:cs typeface="+mn-cs"/>
                </a:rPr>
                <a:t>打乱序列、等长等电荷、</a:t>
              </a:r>
              <a:br>
                <a:rPr lang="zh-CN" sz="1500" dirty="0">
                  <a:solidFill>
                    <a:srgbClr val="9FB3CF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rgbClr val="9FB3CF"/>
                  </a:solidFill>
                  <a:latin typeface="+mn-lt"/>
                  <a:ea typeface="+mn-ea"/>
                  <a:cs typeface="+mn-cs"/>
                </a:rPr>
                <a:t>同源无活性三类肽同流程</a:t>
              </a:r>
              <a:br>
                <a:rPr lang="zh-CN" sz="1500" dirty="0">
                  <a:solidFill>
                    <a:srgbClr val="9FB3CF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rgbClr val="9FB3CF"/>
                  </a:solidFill>
                  <a:latin typeface="+mn-lt"/>
                  <a:ea typeface="+mn-ea"/>
                  <a:cs typeface="+mn-cs"/>
                </a:rPr>
                <a:t>同时长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37844" y="5949950"/>
              <a:ext cx="133235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E0A458"/>
                  </a:solidFill>
                  <a:latin typeface="+mn-lt"/>
                  <a:ea typeface="+mn-ea"/>
                  <a:cs typeface="+mn-cs"/>
                </a:rPr>
                <a:t>判稳与判向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38987" y="6451600"/>
              <a:ext cx="688287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F2F6FA"/>
                  </a:solidFill>
                  <a:latin typeface="+mn-lt"/>
                  <a:ea typeface="+mn-ea"/>
                  <a:cs typeface="+mn-cs"/>
                </a:rPr>
                <a:t>最后 500 ns 的界面接触占据率不低于六成，且至少两条副本一致。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38987" y="6851650"/>
              <a:ext cx="927938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F2F6FA"/>
                  </a:solidFill>
                  <a:latin typeface="+mn-lt"/>
                  <a:ea typeface="+mn-ea"/>
                  <a:cs typeface="+mn-cs"/>
                </a:rPr>
                <a:t>方向在开跑前写定：伸长自由能的符号加二次成核速率，决定判为加速、改形还是无效应。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38987" y="7251700"/>
              <a:ext cx="8336626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F2F6FA"/>
                  </a:solidFill>
                  <a:latin typeface="+mn-lt"/>
                  <a:ea typeface="+mn-ea"/>
                  <a:cs typeface="+mn-cs"/>
                </a:rPr>
                <a:t>β 含量对力场敏感，CHARMM36m 与 a99SB-disp 两套都跑，只采信一致的结论。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plan"/>
          <p:cNvGrpSpPr/>
          <p:nvPr/>
        </p:nvGrpSpPr>
        <p:grpSpPr>
          <a:xfrm>
            <a:off x="1030986" y="736600"/>
            <a:ext cx="13161264" cy="7269607"/>
            <a:chOff x="1030986" y="736600"/>
            <a:chExt cx="13161264" cy="7269607"/>
          </a:xfrm>
        </p:grpSpPr>
        <p:sp>
          <p:nvSpPr>
            <p:cNvPr id="2" name="TextBox 2"/>
            <p:cNvSpPr txBox="1"/>
            <p:nvPr/>
          </p:nvSpPr>
          <p:spPr>
            <a:xfrm>
              <a:off x="1030986" y="736600"/>
              <a:ext cx="181051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2F6FA"/>
                  </a:solidFill>
                  <a:latin typeface="+mn-lt"/>
                  <a:ea typeface="+mn-ea"/>
                  <a:cs typeface="+mn-cs"/>
                </a:rPr>
                <a:t>先做什么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1047750" y="1409700"/>
              <a:ext cx="1143000" cy="47625"/>
            </a:xfrm>
            <a:prstGeom prst="rect">
              <a:avLst/>
            </a:prstGeom>
            <a:solidFill>
              <a:srgbClr val="E0A458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1047750" y="2190750"/>
              <a:ext cx="13144500" cy="1524000"/>
            </a:xfrm>
            <a:prstGeom prst="rect">
              <a:avLst/>
            </a:prstGeom>
            <a:solidFill>
              <a:srgbClr val="15283F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1047750" y="2190750"/>
              <a:ext cx="76200" cy="1524000"/>
            </a:xfrm>
            <a:prstGeom prst="rect">
              <a:avLst/>
            </a:prstGeom>
            <a:solidFill>
              <a:srgbClr val="E0A458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418082" y="2489200"/>
              <a:ext cx="86944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E0A458"/>
                  </a:solidFill>
                  <a:latin typeface="+mn-lt"/>
                  <a:ea typeface="+mn-ea"/>
                  <a:cs typeface="+mn-cs"/>
                </a:rPr>
                <a:t>第一批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420368" y="3016250"/>
              <a:ext cx="108446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2F6FA"/>
                  </a:solidFill>
                  <a:latin typeface="+mn-lt"/>
                  <a:ea typeface="+mn-ea"/>
                  <a:cs typeface="+mn-cs"/>
                </a:rPr>
                <a:t>肠道端（M8）和外周清除竞争（M6）。不依赖跨屏障假设，风险最低，也最能说明肠道来源这个出身的意义。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047750" y="3962400"/>
              <a:ext cx="13144500" cy="1524000"/>
            </a:xfrm>
            <a:prstGeom prst="rect">
              <a:avLst/>
            </a:prstGeom>
            <a:solidFill>
              <a:srgbClr val="15283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1047750" y="3962400"/>
              <a:ext cx="76200" cy="1524000"/>
            </a:xfrm>
            <a:prstGeom prst="rect">
              <a:avLst/>
            </a:prstGeom>
            <a:solidFill>
              <a:srgbClr val="5BA6A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418082" y="4260850"/>
              <a:ext cx="86944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5BA6A8"/>
                  </a:solidFill>
                  <a:latin typeface="+mn-lt"/>
                  <a:ea typeface="+mn-ea"/>
                  <a:cs typeface="+mn-cs"/>
                </a:rPr>
                <a:t>第二批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20368" y="4787900"/>
              <a:ext cx="108315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2F6FA"/>
                  </a:solidFill>
                  <a:latin typeface="+mn-lt"/>
                  <a:ea typeface="+mn-ea"/>
                  <a:cs typeface="+mn-cs"/>
                </a:rPr>
                <a:t>AChE 三元体系（M1）和交叉成核的方向判据（M2）。已经动手的部分，补上三元、双力场和 ThT 全局拟合。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047750" y="5734050"/>
              <a:ext cx="13144500" cy="1524000"/>
            </a:xfrm>
            <a:prstGeom prst="rect">
              <a:avLst/>
            </a:prstGeom>
            <a:solidFill>
              <a:srgbClr val="15283F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1047750" y="5734050"/>
              <a:ext cx="76200" cy="1524000"/>
            </a:xfrm>
            <a:prstGeom prst="rect">
              <a:avLst/>
            </a:prstGeom>
            <a:solidFill>
              <a:srgbClr val="C9705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418082" y="6032500"/>
              <a:ext cx="86944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C9705B"/>
                  </a:solidFill>
                  <a:latin typeface="+mn-lt"/>
                  <a:ea typeface="+mn-ea"/>
                  <a:cs typeface="+mn-cs"/>
                </a:rPr>
                <a:t>第三批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420368" y="6559550"/>
              <a:ext cx="120434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2F6FA"/>
                  </a:solidFill>
                  <a:latin typeface="+mn-lt"/>
                  <a:ea typeface="+mn-ea"/>
                  <a:cs typeface="+mn-cs"/>
                </a:rPr>
                <a:t>受体层（M4）需要膜体系和细胞实验配合，周期长；膜界面（M5）、自淀粉样化（M7）、tau（M3）视前两批结果展开。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39368" y="7683500"/>
              <a:ext cx="912380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9FB3CF"/>
                  </a:solidFill>
                  <a:latin typeface="+mn-lt"/>
                  <a:ea typeface="+mn-ea"/>
                  <a:cs typeface="+mn-cs"/>
                </a:rPr>
                <a:t>跨屏障那条路径，在稳定性和降解片段谱的数据出来之前按条件分支处理，不写进主线结论。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ppt">
  <a:themeElements>
    <a:clrScheme name="pp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pt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2026-10-05T02:35:47Z</dcterms:created>
  <dcterms:modified xsi:type="dcterms:W3CDTF">2026-10-05T02:35:47Z</dcterms:modified>
  <cp:category/>
  <cp:contentStatus/>
</cp:coreProperties>
</file>